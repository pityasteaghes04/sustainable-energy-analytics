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8" r:id="rId6"/>
    <p:sldId id="257" r:id="rId7"/>
    <p:sldId id="260" r:id="rId8"/>
    <p:sldId id="261" r:id="rId9"/>
    <p:sldId id="25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DD4A8C-DDB7-4F31-9DCA-8DEA0994F1A2}" v="3" dt="2025-06-04T18:15:22.7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9" d="100"/>
          <a:sy n="69" d="100"/>
        </p:scale>
        <p:origin x="3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tyas Isayas" userId="1abccb35f0f5d44d" providerId="LiveId" clId="{C6DD4A8C-DDB7-4F31-9DCA-8DEA0994F1A2}"/>
    <pc:docChg chg="undo custSel modSld">
      <pc:chgData name="Pityas Isayas" userId="1abccb35f0f5d44d" providerId="LiveId" clId="{C6DD4A8C-DDB7-4F31-9DCA-8DEA0994F1A2}" dt="2025-06-04T22:52:46.341" v="351" actId="20577"/>
      <pc:docMkLst>
        <pc:docMk/>
      </pc:docMkLst>
      <pc:sldChg chg="addSp delSp modSp mod">
        <pc:chgData name="Pityas Isayas" userId="1abccb35f0f5d44d" providerId="LiveId" clId="{C6DD4A8C-DDB7-4F31-9DCA-8DEA0994F1A2}" dt="2025-06-04T18:17:07.535" v="343" actId="14100"/>
        <pc:sldMkLst>
          <pc:docMk/>
          <pc:sldMk cId="3183722215" sldId="259"/>
        </pc:sldMkLst>
        <pc:spChg chg="mod">
          <ac:chgData name="Pityas Isayas" userId="1abccb35f0f5d44d" providerId="LiveId" clId="{C6DD4A8C-DDB7-4F31-9DCA-8DEA0994F1A2}" dt="2025-06-04T18:15:50.179" v="331" actId="1076"/>
          <ac:spMkLst>
            <pc:docMk/>
            <pc:sldMk cId="3183722215" sldId="259"/>
            <ac:spMk id="2" creationId="{9FB70A01-593E-E6CC-BD9E-259B6702FED9}"/>
          </ac:spMkLst>
        </pc:spChg>
        <pc:spChg chg="add del mod">
          <ac:chgData name="Pityas Isayas" userId="1abccb35f0f5d44d" providerId="LiveId" clId="{C6DD4A8C-DDB7-4F31-9DCA-8DEA0994F1A2}" dt="2025-06-04T18:16:32.273" v="339" actId="14100"/>
          <ac:spMkLst>
            <pc:docMk/>
            <pc:sldMk cId="3183722215" sldId="259"/>
            <ac:spMk id="3" creationId="{20C0C18F-2F2B-6CC9-936B-00819AF42F12}"/>
          </ac:spMkLst>
        </pc:spChg>
        <pc:spChg chg="add mod">
          <ac:chgData name="Pityas Isayas" userId="1abccb35f0f5d44d" providerId="LiveId" clId="{C6DD4A8C-DDB7-4F31-9DCA-8DEA0994F1A2}" dt="2025-06-04T17:57:24.436" v="3"/>
          <ac:spMkLst>
            <pc:docMk/>
            <pc:sldMk cId="3183722215" sldId="259"/>
            <ac:spMk id="4" creationId="{6BD891A1-F2B0-2E96-0155-D1639F7DF2D7}"/>
          </ac:spMkLst>
        </pc:spChg>
        <pc:spChg chg="add del mod">
          <ac:chgData name="Pityas Isayas" userId="1abccb35f0f5d44d" providerId="LiveId" clId="{C6DD4A8C-DDB7-4F31-9DCA-8DEA0994F1A2}" dt="2025-06-04T18:16:42.802" v="342"/>
          <ac:spMkLst>
            <pc:docMk/>
            <pc:sldMk cId="3183722215" sldId="259"/>
            <ac:spMk id="7" creationId="{490DE977-1E4C-E31E-F962-1AC2D8BD9015}"/>
          </ac:spMkLst>
        </pc:spChg>
        <pc:picChg chg="add mod">
          <ac:chgData name="Pityas Isayas" userId="1abccb35f0f5d44d" providerId="LiveId" clId="{C6DD4A8C-DDB7-4F31-9DCA-8DEA0994F1A2}" dt="2025-06-04T18:17:07.535" v="343" actId="14100"/>
          <ac:picMkLst>
            <pc:docMk/>
            <pc:sldMk cId="3183722215" sldId="259"/>
            <ac:picMk id="6" creationId="{0ECF5BD6-332C-4E01-63EB-DA7567B9F920}"/>
          </ac:picMkLst>
        </pc:picChg>
      </pc:sldChg>
      <pc:sldChg chg="modSp mod">
        <pc:chgData name="Pityas Isayas" userId="1abccb35f0f5d44d" providerId="LiveId" clId="{C6DD4A8C-DDB7-4F31-9DCA-8DEA0994F1A2}" dt="2025-06-04T22:52:46.341" v="351" actId="20577"/>
        <pc:sldMkLst>
          <pc:docMk/>
          <pc:sldMk cId="2106585281" sldId="260"/>
        </pc:sldMkLst>
        <pc:spChg chg="mod">
          <ac:chgData name="Pityas Isayas" userId="1abccb35f0f5d44d" providerId="LiveId" clId="{C6DD4A8C-DDB7-4F31-9DCA-8DEA0994F1A2}" dt="2025-06-04T22:52:46.341" v="351" actId="20577"/>
          <ac:spMkLst>
            <pc:docMk/>
            <pc:sldMk cId="2106585281" sldId="260"/>
            <ac:spMk id="2" creationId="{C3965248-5D84-20EA-E7E1-E8A91F82B8D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FB3CA-69D2-F901-D979-7A5FD5BE43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946007-53DC-CCD8-6D48-A6D76C7068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93BA6-E674-F0AD-3E4A-25464E64B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C3FFF-4E59-468E-9DB9-901C590E61E7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AC89A-1913-FADE-C99C-0543FD1B5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665AD-E4FE-91D5-A561-23C4CE9A9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C5DCA-7079-4C93-BC88-A9E46234D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607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0DE2B-A2F3-0BFA-C4BC-A15263E78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19A10-79F9-A859-E9E3-D97F1329B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FD7AE-2C08-B5FE-5054-0E5BED28A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C3FFF-4E59-468E-9DB9-901C590E61E7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CD6461-C9B7-B5F5-D98E-20665A024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41FD9-08A9-3F07-5863-FC89D49CB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C5DCA-7079-4C93-BC88-A9E46234D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436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E840D-38B8-53DC-3131-B969F2985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1C8C1F-9597-394F-1072-09AB8E7778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392D1-3E52-E957-1206-E5DDB0E18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C3FFF-4E59-468E-9DB9-901C590E61E7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81734-9381-A422-F195-35AAC5A0A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BF898-FFFE-BD21-3BD2-86A891A93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C5DCA-7079-4C93-BC88-A9E46234D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608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9E38B-E7D5-400D-3C58-7CE7C1CC9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C795F-0954-5F75-EDD0-2BACA8529A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9C90B9-DB84-91BD-B96D-C66A671969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19AFD8-D737-3BE7-B32F-0E274682A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C3FFF-4E59-468E-9DB9-901C590E61E7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3879D2-E3CB-B1CF-2070-280566E86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082943-CA6A-0B27-F2A4-79FA3E695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C5DCA-7079-4C93-BC88-A9E46234D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038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59946-8FDB-3B73-582B-844159585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51AEC7-9AFF-803D-DBD4-0A8A3AD59D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E072D0-848E-35D2-D515-E0E10782E5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F13DFE-5403-C6B2-9A7E-CA1A3D1EE7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4044-5CA5-B51C-5F75-A498187DAF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BDAB7D-F574-D6E3-C925-7FD927FF0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C3FFF-4E59-468E-9DB9-901C590E61E7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12BB78-660F-5D06-9CBD-207D28ACA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DD9E5E-628B-0BEE-8203-992B7BBED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C5DCA-7079-4C93-BC88-A9E46234D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300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6F378-EF28-2670-DA50-7792D6098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C725A3-3A77-F4A7-2EA4-CDA66CA50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C3FFF-4E59-468E-9DB9-901C590E61E7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13928C-DD1D-0E1A-D278-1C5B8D6FD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D65A86-8B54-C99A-D92F-810774A43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C5DCA-7079-4C93-BC88-A9E46234D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220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E3F32B-E518-B1C6-FD68-28EE6D6D4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C3FFF-4E59-468E-9DB9-901C590E61E7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19D417-AB51-EABA-C208-DAFCDDD82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FFD3C3-5ED5-F8A2-9EC9-1B74781EE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C5DCA-7079-4C93-BC88-A9E46234D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586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9CED4-7C1C-B806-E13B-1236BB78B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DB0F3-61F2-F29E-E9B3-7FE93D1DA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7C4A1A-D925-76EE-1F8A-7096CEB102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95DD46-BB75-35BF-0568-EF72008BC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C3FFF-4E59-468E-9DB9-901C590E61E7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25C0A7-5C46-3F86-D000-37ACDD49E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93F5AA-928F-2377-A681-0280049F1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C5DCA-7079-4C93-BC88-A9E46234D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051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C43F9-85A3-FFF0-FC5E-83270228B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7F33D3-1E39-41BB-F96B-3306EF259C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F27078-9E2C-AE08-4277-E0A4F06882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53297-E15E-147C-67DA-6C65C4D44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C3FFF-4E59-468E-9DB9-901C590E61E7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3634A7-A381-AAB6-7468-F56DEB748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E046B8-2822-C3CE-9041-974F04697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C5DCA-7079-4C93-BC88-A9E46234D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120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48289-8159-208C-47AE-B3DDC33CE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F22DAB-E740-3EC6-530A-231F3B51B1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F19AAF-7B38-6806-F410-E20BD85CC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C3FFF-4E59-468E-9DB9-901C590E61E7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1A913-626E-7A7C-B4B6-398E12D19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2C384-5E1C-3102-51D7-1CCEA7DD8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C5DCA-7079-4C93-BC88-A9E46234D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786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ED4B56-1B62-9767-86F9-57355C9122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0DCB3C-AA1C-3031-D55A-5D8FFD5418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8263CF-F403-5159-3092-EAE7FD3B3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C3FFF-4E59-468E-9DB9-901C590E61E7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9E7B48-51A0-38E4-E4D6-2134BFBEE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4AF46-F5DD-F94D-7995-DBF128C2A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C5DCA-7079-4C93-BC88-A9E46234D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581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7177E0-37F8-FE78-BDE7-CBF09BA8D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831A5F-CD64-870B-15A3-92A40DD293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9D953-5CB3-B0DF-FC31-4FF6AADC6D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1C3FFF-4E59-468E-9DB9-901C590E61E7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7DA7F-0E6D-0AF5-F10B-F5F16A2530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95BC9-659E-FA89-9833-36A181DFCA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0C5DCA-7079-4C93-BC88-A9E46234D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263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Solar_energy.jpg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1,000+ Solar Panel Field Stock Illustrations, Royalty-Free Vector Graphics  &amp; Clip Art - iStock | Solar panel field aerial, Solar panel field above, Solar  panel field uk">
            <a:extLst>
              <a:ext uri="{FF2B5EF4-FFF2-40B4-BE49-F238E27FC236}">
                <a16:creationId xmlns:a16="http://schemas.microsoft.com/office/drawing/2014/main" id="{BC38CCDC-DD5C-E46B-07D8-4910314A180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/>
                    </a14:imgEffect>
                    <a14:imgEffect>
                      <a14:brightnessContrast/>
                    </a14:imgEffect>
                  </a14:imgLayer>
                </a14:imgProps>
              </a:ext>
            </a:extLst>
          </a:blip>
          <a:srcRect t="8536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9D6749A-6B60-7111-7858-AFF668E5B4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How many solar panels do you need to charge a phone?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842A23-8A7F-9722-4991-C6709AF927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700" dirty="0">
                <a:solidFill>
                  <a:srgbClr val="FFFFFF"/>
                </a:solidFill>
              </a:rPr>
              <a:t>Team #</a:t>
            </a:r>
          </a:p>
          <a:p>
            <a:r>
              <a:rPr lang="en-US" sz="1700" dirty="0">
                <a:solidFill>
                  <a:srgbClr val="FFFFFF"/>
                </a:solidFill>
              </a:rPr>
              <a:t>Syed, Jac, Pityas</a:t>
            </a:r>
          </a:p>
          <a:p>
            <a:r>
              <a:rPr lang="en-US" sz="1700" dirty="0">
                <a:solidFill>
                  <a:srgbClr val="FFFFFF"/>
                </a:solidFill>
              </a:rPr>
              <a:t>CSS 290 – Software for Renewable Energy</a:t>
            </a:r>
          </a:p>
        </p:txBody>
      </p:sp>
    </p:spTree>
    <p:extLst>
      <p:ext uri="{BB962C8B-B14F-4D97-AF65-F5344CB8AC3E}">
        <p14:creationId xmlns:p14="http://schemas.microsoft.com/office/powerpoint/2010/main" val="6340764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59C6B72-F8E6-4281-8F3E-93FC0DC980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748A60-1E81-DA63-7A44-3C5421933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65125"/>
            <a:ext cx="5295015" cy="2063808"/>
          </a:xfrm>
          <a:ln>
            <a:noFill/>
          </a:ln>
        </p:spPr>
        <p:txBody>
          <a:bodyPr anchor="b">
            <a:normAutofit/>
          </a:bodyPr>
          <a:lstStyle/>
          <a:p>
            <a:r>
              <a:rPr lang="en-US" sz="5000" dirty="0">
                <a:solidFill>
                  <a:srgbClr val="000000"/>
                </a:solidFill>
              </a:rPr>
              <a:t>It depends on what you're charging</a:t>
            </a:r>
          </a:p>
        </p:txBody>
      </p:sp>
      <p:pic>
        <p:nvPicPr>
          <p:cNvPr id="6" name="Picture 5" descr="Apple iPhone 15 Pro Max">
            <a:extLst>
              <a:ext uri="{FF2B5EF4-FFF2-40B4-BE49-F238E27FC236}">
                <a16:creationId xmlns:a16="http://schemas.microsoft.com/office/drawing/2014/main" id="{0CB8D8F3-512C-1A82-436F-E333BB430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0128" y="365125"/>
            <a:ext cx="1366113" cy="2194560"/>
          </a:xfrm>
          <a:prstGeom prst="rect">
            <a:avLst/>
          </a:prstGeom>
        </p:spPr>
      </p:pic>
      <p:pic>
        <p:nvPicPr>
          <p:cNvPr id="7" name="Picture 6" descr="New Samsung Galaxy S25 Ultra: Features, Price, Reviews | Verizon">
            <a:extLst>
              <a:ext uri="{FF2B5EF4-FFF2-40B4-BE49-F238E27FC236}">
                <a16:creationId xmlns:a16="http://schemas.microsoft.com/office/drawing/2014/main" id="{440BAD19-2C67-78F5-FF6A-DEE2DC1CA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7061" y="365125"/>
            <a:ext cx="1441203" cy="2194560"/>
          </a:xfrm>
          <a:prstGeom prst="rect">
            <a:avLst/>
          </a:prstGeom>
        </p:spPr>
      </p:pic>
      <p:sp>
        <p:nvSpPr>
          <p:cNvPr id="21" name="sketch line">
            <a:extLst>
              <a:ext uri="{FF2B5EF4-FFF2-40B4-BE49-F238E27FC236}">
                <a16:creationId xmlns:a16="http://schemas.microsoft.com/office/drawing/2014/main" id="{490234EE-E0D8-4805-9227-CCEAC60169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2650181"/>
            <a:ext cx="4343400" cy="18288"/>
          </a:xfrm>
          <a:custGeom>
            <a:avLst/>
            <a:gdLst>
              <a:gd name="connsiteX0" fmla="*/ 0 w 4343400"/>
              <a:gd name="connsiteY0" fmla="*/ 0 h 18288"/>
              <a:gd name="connsiteX1" fmla="*/ 577052 w 4343400"/>
              <a:gd name="connsiteY1" fmla="*/ 0 h 18288"/>
              <a:gd name="connsiteX2" fmla="*/ 1067235 w 4343400"/>
              <a:gd name="connsiteY2" fmla="*/ 0 h 18288"/>
              <a:gd name="connsiteX3" fmla="*/ 1600853 w 4343400"/>
              <a:gd name="connsiteY3" fmla="*/ 0 h 18288"/>
              <a:gd name="connsiteX4" fmla="*/ 2264773 w 4343400"/>
              <a:gd name="connsiteY4" fmla="*/ 0 h 18288"/>
              <a:gd name="connsiteX5" fmla="*/ 2841825 w 4343400"/>
              <a:gd name="connsiteY5" fmla="*/ 0 h 18288"/>
              <a:gd name="connsiteX6" fmla="*/ 3375442 w 4343400"/>
              <a:gd name="connsiteY6" fmla="*/ 0 h 18288"/>
              <a:gd name="connsiteX7" fmla="*/ 4343400 w 4343400"/>
              <a:gd name="connsiteY7" fmla="*/ 0 h 18288"/>
              <a:gd name="connsiteX8" fmla="*/ 4343400 w 4343400"/>
              <a:gd name="connsiteY8" fmla="*/ 18288 h 18288"/>
              <a:gd name="connsiteX9" fmla="*/ 3722914 w 4343400"/>
              <a:gd name="connsiteY9" fmla="*/ 18288 h 18288"/>
              <a:gd name="connsiteX10" fmla="*/ 3189297 w 4343400"/>
              <a:gd name="connsiteY10" fmla="*/ 18288 h 18288"/>
              <a:gd name="connsiteX11" fmla="*/ 2481943 w 4343400"/>
              <a:gd name="connsiteY11" fmla="*/ 18288 h 18288"/>
              <a:gd name="connsiteX12" fmla="*/ 1904891 w 4343400"/>
              <a:gd name="connsiteY12" fmla="*/ 18288 h 18288"/>
              <a:gd name="connsiteX13" fmla="*/ 1414707 w 4343400"/>
              <a:gd name="connsiteY13" fmla="*/ 18288 h 18288"/>
              <a:gd name="connsiteX14" fmla="*/ 750788 w 4343400"/>
              <a:gd name="connsiteY14" fmla="*/ 18288 h 18288"/>
              <a:gd name="connsiteX15" fmla="*/ 0 w 4343400"/>
              <a:gd name="connsiteY15" fmla="*/ 18288 h 18288"/>
              <a:gd name="connsiteX16" fmla="*/ 0 w 43434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6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1FBDF-C596-7639-26DF-D07A32F99F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908005"/>
            <a:ext cx="5295015" cy="326895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en-US" sz="2200" b="1"/>
          </a:p>
          <a:p>
            <a:pPr marL="0" indent="0">
              <a:buNone/>
            </a:pPr>
            <a:endParaRPr lang="en-US" sz="2200"/>
          </a:p>
          <a:p>
            <a:pPr marL="0" indent="0">
              <a:buNone/>
            </a:pPr>
            <a:endParaRPr lang="en-US" sz="2200"/>
          </a:p>
          <a:p>
            <a:pPr>
              <a:buNone/>
            </a:pPr>
            <a:endParaRPr lang="en-US" sz="2200" b="1"/>
          </a:p>
          <a:p>
            <a:pPr>
              <a:buNone/>
            </a:pPr>
            <a:endParaRPr lang="en-US" sz="2200"/>
          </a:p>
          <a:p>
            <a:pPr marL="0" indent="0">
              <a:buNone/>
            </a:pPr>
            <a:endParaRPr lang="en-US" sz="2200"/>
          </a:p>
          <a:p>
            <a:pPr marL="0" indent="0">
              <a:buNone/>
            </a:pPr>
            <a:endParaRPr lang="en-US" sz="2200" b="1"/>
          </a:p>
          <a:p>
            <a:pPr marL="0" indent="0">
              <a:buNone/>
            </a:pPr>
            <a:endParaRPr lang="en-US" sz="2200"/>
          </a:p>
          <a:p>
            <a:pPr marL="0" indent="0">
              <a:spcBef>
                <a:spcPts val="0"/>
              </a:spcBef>
              <a:buNone/>
            </a:pPr>
            <a:endParaRPr lang="en-US" sz="2200"/>
          </a:p>
          <a:p>
            <a:pPr>
              <a:buNone/>
            </a:pPr>
            <a:endParaRPr lang="en-US" sz="2200" b="1"/>
          </a:p>
          <a:p>
            <a:pPr>
              <a:buNone/>
            </a:pPr>
            <a:endParaRPr lang="en-US" sz="2200"/>
          </a:p>
          <a:p>
            <a:pPr marL="0" indent="0">
              <a:buNone/>
            </a:pPr>
            <a:endParaRPr lang="en-US" sz="2200"/>
          </a:p>
          <a:p>
            <a:pPr marL="0" indent="0">
              <a:spcBef>
                <a:spcPts val="0"/>
              </a:spcBef>
              <a:buNone/>
            </a:pPr>
            <a:endParaRPr lang="en-US" sz="2200" b="1"/>
          </a:p>
          <a:p>
            <a:pPr marL="0" indent="0">
              <a:spcBef>
                <a:spcPts val="0"/>
              </a:spcBef>
              <a:buNone/>
            </a:pPr>
            <a:endParaRPr lang="en-US" sz="2200"/>
          </a:p>
          <a:p>
            <a:pPr marL="0" indent="0">
              <a:spcBef>
                <a:spcPts val="0"/>
              </a:spcBef>
              <a:buNone/>
            </a:pPr>
            <a:endParaRPr lang="en-US" sz="2200"/>
          </a:p>
          <a:p>
            <a:pPr marL="0" indent="0">
              <a:spcBef>
                <a:spcPts val="0"/>
              </a:spcBef>
              <a:buNone/>
            </a:pPr>
            <a:endParaRPr lang="en-US" sz="2200"/>
          </a:p>
          <a:p>
            <a:pPr marL="0" indent="0">
              <a:buNone/>
            </a:pPr>
            <a:endParaRPr lang="en-US" sz="2200"/>
          </a:p>
          <a:p>
            <a:endParaRPr lang="en-US" sz="2200"/>
          </a:p>
          <a:p>
            <a:endParaRPr lang="en-US" sz="2200"/>
          </a:p>
          <a:p>
            <a:endParaRPr lang="en-US" sz="2200"/>
          </a:p>
          <a:p>
            <a:endParaRPr lang="en-US" sz="220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E534DEA-24B6-38E9-5639-192B326CB0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1304661"/>
              </p:ext>
            </p:extLst>
          </p:nvPr>
        </p:nvGraphicFramePr>
        <p:xfrm>
          <a:off x="6705645" y="2766251"/>
          <a:ext cx="4949559" cy="3410712"/>
        </p:xfrm>
        <a:graphic>
          <a:graphicData uri="http://schemas.openxmlformats.org/drawingml/2006/table">
            <a:tbl>
              <a:tblPr firstRow="1" bandRow="1">
                <a:noFill/>
                <a:tableStyleId>{10A1B5D5-9B99-4C35-A422-299274C87663}</a:tableStyleId>
              </a:tblPr>
              <a:tblGrid>
                <a:gridCol w="3428225">
                  <a:extLst>
                    <a:ext uri="{9D8B030D-6E8A-4147-A177-3AD203B41FA5}">
                      <a16:colId xmlns:a16="http://schemas.microsoft.com/office/drawing/2014/main" val="2567760505"/>
                    </a:ext>
                  </a:extLst>
                </a:gridCol>
                <a:gridCol w="1521334">
                  <a:extLst>
                    <a:ext uri="{9D8B030D-6E8A-4147-A177-3AD203B41FA5}">
                      <a16:colId xmlns:a16="http://schemas.microsoft.com/office/drawing/2014/main" val="3495237107"/>
                    </a:ext>
                  </a:extLst>
                </a:gridCol>
              </a:tblGrid>
              <a:tr h="568452">
                <a:tc>
                  <a:txBody>
                    <a:bodyPr/>
                    <a:lstStyle/>
                    <a:p>
                      <a:r>
                        <a:rPr lang="en-US" sz="1900" dirty="0">
                          <a:solidFill>
                            <a:schemeClr val="bg1"/>
                          </a:solidFill>
                        </a:rPr>
                        <a:t>Model</a:t>
                      </a:r>
                      <a:endParaRPr lang="en-US" sz="2300" dirty="0">
                        <a:solidFill>
                          <a:schemeClr val="bg1"/>
                        </a:solidFill>
                      </a:endParaRPr>
                    </a:p>
                  </a:txBody>
                  <a:tcPr marL="235678" marR="117839" marT="117839" marB="117839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900" dirty="0">
                          <a:solidFill>
                            <a:schemeClr val="bg1"/>
                          </a:solidFill>
                        </a:rPr>
                        <a:t>Capacity </a:t>
                      </a:r>
                      <a:endParaRPr lang="en-US" sz="2300" dirty="0">
                        <a:solidFill>
                          <a:schemeClr val="bg1"/>
                        </a:solidFill>
                      </a:endParaRPr>
                    </a:p>
                  </a:txBody>
                  <a:tcPr marL="235678" marR="117839" marT="117839" marB="117839"/>
                </a:tc>
                <a:extLst>
                  <a:ext uri="{0D108BD9-81ED-4DB2-BD59-A6C34878D82A}">
                    <a16:rowId xmlns:a16="http://schemas.microsoft.com/office/drawing/2014/main" val="3192108278"/>
                  </a:ext>
                </a:extLst>
              </a:tr>
              <a:tr h="56845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900" u="none" strike="noStrike" noProof="0" dirty="0">
                          <a:solidFill>
                            <a:srgbClr val="404040"/>
                          </a:solidFill>
                        </a:rPr>
                        <a:t>iPhone 15 Pro Max</a:t>
                      </a:r>
                      <a:endParaRPr lang="en-US" sz="1900" dirty="0">
                        <a:solidFill>
                          <a:srgbClr val="404040"/>
                        </a:solidFill>
                      </a:endParaRPr>
                    </a:p>
                  </a:txBody>
                  <a:tcPr marL="235678" marR="117839" marT="117839" marB="117839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900" u="none" strike="noStrike" noProof="0" dirty="0">
                          <a:solidFill>
                            <a:srgbClr val="404040"/>
                          </a:solidFill>
                        </a:rPr>
                        <a:t>4422 </a:t>
                      </a:r>
                      <a:r>
                        <a:rPr lang="en-US" sz="1900" u="none" strike="noStrike" noProof="0" dirty="0" err="1">
                          <a:solidFill>
                            <a:srgbClr val="404040"/>
                          </a:solidFill>
                        </a:rPr>
                        <a:t>mAh</a:t>
                      </a:r>
                      <a:endParaRPr lang="en-US" sz="1900" dirty="0">
                        <a:solidFill>
                          <a:srgbClr val="404040"/>
                        </a:solidFill>
                      </a:endParaRPr>
                    </a:p>
                  </a:txBody>
                  <a:tcPr marL="235678" marR="117839" marT="117839" marB="117839"/>
                </a:tc>
                <a:extLst>
                  <a:ext uri="{0D108BD9-81ED-4DB2-BD59-A6C34878D82A}">
                    <a16:rowId xmlns:a16="http://schemas.microsoft.com/office/drawing/2014/main" val="3210394765"/>
                  </a:ext>
                </a:extLst>
              </a:tr>
              <a:tr h="56845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900" u="none" strike="noStrike" noProof="0" dirty="0">
                          <a:solidFill>
                            <a:srgbClr val="404040"/>
                          </a:solidFill>
                        </a:rPr>
                        <a:t>Nothing Phone (2)</a:t>
                      </a:r>
                      <a:endParaRPr lang="en-US" sz="1900" dirty="0">
                        <a:solidFill>
                          <a:srgbClr val="404040"/>
                        </a:solidFill>
                      </a:endParaRPr>
                    </a:p>
                  </a:txBody>
                  <a:tcPr marL="235678" marR="117839" marT="117839" marB="117839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900" u="none" strike="noStrike" noProof="0" dirty="0">
                          <a:solidFill>
                            <a:srgbClr val="404040"/>
                          </a:solidFill>
                        </a:rPr>
                        <a:t>4700 </a:t>
                      </a:r>
                      <a:r>
                        <a:rPr lang="en-US" sz="1900" u="none" strike="noStrike" noProof="0" dirty="0" err="1">
                          <a:solidFill>
                            <a:srgbClr val="404040"/>
                          </a:solidFill>
                        </a:rPr>
                        <a:t>mAh</a:t>
                      </a:r>
                      <a:endParaRPr lang="en-US" sz="1900" dirty="0">
                        <a:solidFill>
                          <a:srgbClr val="404040"/>
                        </a:solidFill>
                      </a:endParaRPr>
                    </a:p>
                  </a:txBody>
                  <a:tcPr marL="235678" marR="117839" marT="117839" marB="117839"/>
                </a:tc>
                <a:extLst>
                  <a:ext uri="{0D108BD9-81ED-4DB2-BD59-A6C34878D82A}">
                    <a16:rowId xmlns:a16="http://schemas.microsoft.com/office/drawing/2014/main" val="3165898267"/>
                  </a:ext>
                </a:extLst>
              </a:tr>
              <a:tr h="56845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900" u="none" strike="noStrike" noProof="0" dirty="0">
                          <a:solidFill>
                            <a:srgbClr val="404040"/>
                          </a:solidFill>
                        </a:rPr>
                        <a:t>Huawei P60 Pro</a:t>
                      </a:r>
                      <a:endParaRPr lang="en-US" sz="1900" dirty="0">
                        <a:solidFill>
                          <a:srgbClr val="404040"/>
                        </a:solidFill>
                      </a:endParaRPr>
                    </a:p>
                  </a:txBody>
                  <a:tcPr marL="235678" marR="117839" marT="117839" marB="117839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900" u="none" strike="noStrike" noProof="0" dirty="0">
                          <a:solidFill>
                            <a:srgbClr val="404040"/>
                          </a:solidFill>
                        </a:rPr>
                        <a:t>4815 </a:t>
                      </a:r>
                      <a:r>
                        <a:rPr lang="en-US" sz="1900" u="none" strike="noStrike" noProof="0" dirty="0" err="1">
                          <a:solidFill>
                            <a:srgbClr val="404040"/>
                          </a:solidFill>
                        </a:rPr>
                        <a:t>mAh</a:t>
                      </a:r>
                      <a:endParaRPr lang="en-US" sz="1900" dirty="0">
                        <a:solidFill>
                          <a:srgbClr val="404040"/>
                        </a:solidFill>
                      </a:endParaRPr>
                    </a:p>
                  </a:txBody>
                  <a:tcPr marL="235678" marR="117839" marT="117839" marB="117839"/>
                </a:tc>
                <a:extLst>
                  <a:ext uri="{0D108BD9-81ED-4DB2-BD59-A6C34878D82A}">
                    <a16:rowId xmlns:a16="http://schemas.microsoft.com/office/drawing/2014/main" val="1764981642"/>
                  </a:ext>
                </a:extLst>
              </a:tr>
              <a:tr h="56845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900" u="none" strike="noStrike" noProof="0" dirty="0">
                          <a:solidFill>
                            <a:srgbClr val="404040"/>
                          </a:solidFill>
                        </a:rPr>
                        <a:t>Xiaomi 14 Pro</a:t>
                      </a:r>
                      <a:endParaRPr lang="en-US" sz="1900" dirty="0">
                        <a:solidFill>
                          <a:srgbClr val="404040"/>
                        </a:solidFill>
                      </a:endParaRPr>
                    </a:p>
                  </a:txBody>
                  <a:tcPr marL="235678" marR="117839" marT="117839" marB="117839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900" u="none" strike="noStrike" noProof="0" dirty="0">
                          <a:solidFill>
                            <a:srgbClr val="404040"/>
                          </a:solidFill>
                        </a:rPr>
                        <a:t>4880 </a:t>
                      </a:r>
                      <a:r>
                        <a:rPr lang="en-US" sz="1900" u="none" strike="noStrike" noProof="0" dirty="0" err="1">
                          <a:solidFill>
                            <a:srgbClr val="404040"/>
                          </a:solidFill>
                        </a:rPr>
                        <a:t>mAh</a:t>
                      </a:r>
                      <a:endParaRPr lang="en-US" sz="1900" dirty="0">
                        <a:solidFill>
                          <a:srgbClr val="404040"/>
                        </a:solidFill>
                      </a:endParaRPr>
                    </a:p>
                  </a:txBody>
                  <a:tcPr marL="235678" marR="117839" marT="117839" marB="117839"/>
                </a:tc>
                <a:extLst>
                  <a:ext uri="{0D108BD9-81ED-4DB2-BD59-A6C34878D82A}">
                    <a16:rowId xmlns:a16="http://schemas.microsoft.com/office/drawing/2014/main" val="3531781266"/>
                  </a:ext>
                </a:extLst>
              </a:tr>
              <a:tr h="56845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900" u="none" strike="noStrike" noProof="0" dirty="0">
                          <a:solidFill>
                            <a:srgbClr val="404040"/>
                          </a:solidFill>
                        </a:rPr>
                        <a:t>Samsung Galaxy S25 Ultra</a:t>
                      </a:r>
                      <a:endParaRPr lang="en-US" sz="1900" dirty="0">
                        <a:solidFill>
                          <a:srgbClr val="404040"/>
                        </a:solidFill>
                      </a:endParaRPr>
                    </a:p>
                  </a:txBody>
                  <a:tcPr marL="235678" marR="117839" marT="117839" marB="117839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900" u="none" strike="noStrike" noProof="0" dirty="0">
                          <a:solidFill>
                            <a:srgbClr val="404040"/>
                          </a:solidFill>
                        </a:rPr>
                        <a:t>5000 </a:t>
                      </a:r>
                      <a:r>
                        <a:rPr lang="en-US" sz="1900" u="none" strike="noStrike" noProof="0" dirty="0" err="1">
                          <a:solidFill>
                            <a:srgbClr val="404040"/>
                          </a:solidFill>
                        </a:rPr>
                        <a:t>mAh</a:t>
                      </a:r>
                      <a:endParaRPr lang="en-US" sz="1900" u="none" strike="noStrike" noProof="0" dirty="0">
                        <a:solidFill>
                          <a:srgbClr val="404040"/>
                        </a:solidFill>
                      </a:endParaRPr>
                    </a:p>
                  </a:txBody>
                  <a:tcPr marL="235678" marR="117839" marT="117839" marB="117839"/>
                </a:tc>
                <a:extLst>
                  <a:ext uri="{0D108BD9-81ED-4DB2-BD59-A6C34878D82A}">
                    <a16:rowId xmlns:a16="http://schemas.microsoft.com/office/drawing/2014/main" val="297262969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0FFC02E-8A3D-6518-E004-D1CCF93B1DD1}"/>
              </a:ext>
            </a:extLst>
          </p:cNvPr>
          <p:cNvSpPr txBox="1"/>
          <p:nvPr/>
        </p:nvSpPr>
        <p:spPr>
          <a:xfrm>
            <a:off x="534537" y="2968387"/>
            <a:ext cx="5370393" cy="24160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900" dirty="0">
                <a:solidFill>
                  <a:srgbClr val="000000"/>
                </a:solidFill>
              </a:rPr>
              <a:t>Phones that can store more charge will need more energy, which means more panels in our scenario.</a:t>
            </a:r>
          </a:p>
          <a:p>
            <a:endParaRPr lang="en-US" sz="1900" dirty="0">
              <a:solidFill>
                <a:srgbClr val="000000"/>
              </a:solidFill>
            </a:endParaRPr>
          </a:p>
          <a:p>
            <a:r>
              <a:rPr lang="en-US" sz="1900" dirty="0">
                <a:solidFill>
                  <a:srgbClr val="000000"/>
                </a:solidFill>
              </a:rPr>
              <a:t>For example, the S25 Ultra can store over 500 </a:t>
            </a:r>
            <a:r>
              <a:rPr lang="en-US" sz="1900" err="1">
                <a:solidFill>
                  <a:srgbClr val="000000"/>
                </a:solidFill>
              </a:rPr>
              <a:t>mAh</a:t>
            </a:r>
            <a:r>
              <a:rPr lang="en-US" sz="1900" dirty="0">
                <a:solidFill>
                  <a:srgbClr val="000000"/>
                </a:solidFill>
              </a:rPr>
              <a:t> more than the iPhone 15 Pro Max, meaning it will take more solar energy to fully charge.</a:t>
            </a:r>
          </a:p>
          <a:p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7721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63DB74-4000-4FD6-CB25-FE4DDCA90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100" dirty="0"/>
              <a:t>And it depends on where you live</a:t>
            </a:r>
          </a:p>
        </p:txBody>
      </p:sp>
      <p:pic>
        <p:nvPicPr>
          <p:cNvPr id="6" name="Picture 5" descr="A graph showing the solar radiation&#10;&#10;AI-generated content may be incorrect.">
            <a:extLst>
              <a:ext uri="{FF2B5EF4-FFF2-40B4-BE49-F238E27FC236}">
                <a16:creationId xmlns:a16="http://schemas.microsoft.com/office/drawing/2014/main" id="{1C1FAA60-E73C-66B3-2D9A-C6B0CB27A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58198"/>
            <a:ext cx="5614416" cy="3059856"/>
          </a:xfrm>
          <a:prstGeom prst="rect">
            <a:avLst/>
          </a:prstGeom>
          <a:ln>
            <a:noFill/>
          </a:ln>
        </p:spPr>
      </p:pic>
      <p:pic>
        <p:nvPicPr>
          <p:cNvPr id="5" name="Picture 4" descr="A graph showing the solar radiation&#10;&#10;AI-generated content may be incorrect.">
            <a:extLst>
              <a:ext uri="{FF2B5EF4-FFF2-40B4-BE49-F238E27FC236}">
                <a16:creationId xmlns:a16="http://schemas.microsoft.com/office/drawing/2014/main" id="{8DE0B0E1-B34F-DC42-8FA7-6D2038DA03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158198"/>
            <a:ext cx="5614416" cy="3059856"/>
          </a:xfrm>
          <a:prstGeom prst="rect">
            <a:avLst/>
          </a:prstGeom>
          <a:ln>
            <a:noFill/>
          </a:ln>
        </p:spPr>
      </p:pic>
      <p:sp>
        <p:nvSpPr>
          <p:cNvPr id="25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6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65E275-D06A-C687-F6D3-CB140237DF9E}"/>
              </a:ext>
            </a:extLst>
          </p:cNvPr>
          <p:cNvSpPr txBox="1"/>
          <p:nvPr/>
        </p:nvSpPr>
        <p:spPr>
          <a:xfrm>
            <a:off x="1945067" y="580244"/>
            <a:ext cx="27432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dirty="0"/>
              <a:t>Eritrea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3C913C-3D3B-DFCC-1FCC-81BA85410552}"/>
              </a:ext>
            </a:extLst>
          </p:cNvPr>
          <p:cNvSpPr txBox="1"/>
          <p:nvPr/>
        </p:nvSpPr>
        <p:spPr>
          <a:xfrm>
            <a:off x="7691550" y="580233"/>
            <a:ext cx="27432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dirty="0"/>
              <a:t>Seattle</a:t>
            </a:r>
            <a:endParaRPr lang="en-US" dirty="0"/>
          </a:p>
        </p:txBody>
      </p:sp>
      <p:pic>
        <p:nvPicPr>
          <p:cNvPr id="14" name="Picture 2" descr="Flag of Eritrea - Wikipedia">
            <a:extLst>
              <a:ext uri="{FF2B5EF4-FFF2-40B4-BE49-F238E27FC236}">
                <a16:creationId xmlns:a16="http://schemas.microsoft.com/office/drawing/2014/main" id="{14CD80EC-5D7D-2724-4AF1-399AC28965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14" y="532492"/>
            <a:ext cx="1248276" cy="624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Graphic 8" descr="Flag of Seattle - Wikipedia">
            <a:extLst>
              <a:ext uri="{FF2B5EF4-FFF2-40B4-BE49-F238E27FC236}">
                <a16:creationId xmlns:a16="http://schemas.microsoft.com/office/drawing/2014/main" id="{48FD3539-BA9B-127A-22E5-096D26FB16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8707" y="532086"/>
            <a:ext cx="840172" cy="626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279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965248-5D84-20EA-E7E1-E8A91F82B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 dirty="0"/>
              <a:t>Visualization - Syed</a:t>
            </a:r>
          </a:p>
        </p:txBody>
      </p:sp>
      <p:sp>
        <p:nvSpPr>
          <p:cNvPr id="8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6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C16BE-57CB-C4FD-3799-1A9429BC0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/>
              <a:t>Why we choose box and whisker graph?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/>
              <a:t>Because it is able represent the data more accurately. For example, we if choose a bar graph then you wouldn't be able to see the median and range. You can only see the min and max.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/>
              <a:t>For this reason, we have two different graphs.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/>
              <a:t>We initially have dots plotted, but in the second graph we omit those dots because they obfuscate the median and related statistics.</a:t>
            </a:r>
          </a:p>
        </p:txBody>
      </p:sp>
      <p:pic>
        <p:nvPicPr>
          <p:cNvPr id="4" name="Picture 3" descr="A graph of solar panels&#10;&#10;AI-generated content may be incorrect.">
            <a:extLst>
              <a:ext uri="{FF2B5EF4-FFF2-40B4-BE49-F238E27FC236}">
                <a16:creationId xmlns:a16="http://schemas.microsoft.com/office/drawing/2014/main" id="{E2A0448D-B087-B631-9ED3-131984F8E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744565"/>
            <a:ext cx="4014216" cy="2599204"/>
          </a:xfrm>
          <a:prstGeom prst="rect">
            <a:avLst/>
          </a:prstGeom>
        </p:spPr>
      </p:pic>
      <p:pic>
        <p:nvPicPr>
          <p:cNvPr id="5" name="Picture 4" descr="A diagram of solar panels&#10;&#10;AI-generated content may be incorrect.">
            <a:extLst>
              <a:ext uri="{FF2B5EF4-FFF2-40B4-BE49-F238E27FC236}">
                <a16:creationId xmlns:a16="http://schemas.microsoft.com/office/drawing/2014/main" id="{67B982CB-C56F-049C-51C6-5D240A9CB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9662" y="3698193"/>
            <a:ext cx="4089264" cy="2607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585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57A571-A071-C795-4606-57BD04180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 different Visualization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6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43E7CD-9A01-AE28-2578-CE9B7CBF5571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/>
              <a:t>If you look at this graph you'll see that 90% of the year, you need only 2 panels to completely charge your phone. </a:t>
            </a:r>
            <a:endParaRPr lang="en-US"/>
          </a:p>
        </p:txBody>
      </p:sp>
      <p:pic>
        <p:nvPicPr>
          <p:cNvPr id="4" name="Content Placeholder 3" descr="A graph of a number of panels needed to charge phones&#10;&#10;AI-generated content may be incorrect.">
            <a:extLst>
              <a:ext uri="{FF2B5EF4-FFF2-40B4-BE49-F238E27FC236}">
                <a16:creationId xmlns:a16="http://schemas.microsoft.com/office/drawing/2014/main" id="{B05F72C6-951C-D67F-18C4-7EDE8E401F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4296" y="1211180"/>
            <a:ext cx="6903720" cy="4435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945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70A01-593E-E6CC-BD9E-259B6702F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582" y="281710"/>
            <a:ext cx="10515600" cy="1325563"/>
          </a:xfrm>
        </p:spPr>
        <p:txBody>
          <a:bodyPr/>
          <a:lstStyle/>
          <a:p>
            <a:r>
              <a:rPr lang="en-US" dirty="0"/>
              <a:t>Data Sources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0C18F-2F2B-6CC9-936B-00819AF42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83" y="1299151"/>
            <a:ext cx="7496074" cy="554802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/>
              <a:t>Visual Crossings helped us grasp a Weather API for solar panel performance estimation</a:t>
            </a:r>
          </a:p>
          <a:p>
            <a:pPr lvl="1"/>
            <a:r>
              <a:rPr lang="en-US" i="1" dirty="0"/>
              <a:t>It delivers critical data: solar energy, temperature, and cloud cover.</a:t>
            </a:r>
          </a:p>
          <a:p>
            <a:pPr marL="457200" lvl="1" indent="0">
              <a:buNone/>
            </a:pPr>
            <a:endParaRPr lang="en-US" b="1" dirty="0"/>
          </a:p>
          <a:p>
            <a:r>
              <a:rPr lang="en-US" b="1" dirty="0"/>
              <a:t>We've successfully used this API before.</a:t>
            </a:r>
            <a:r>
              <a:rPr lang="en-US" dirty="0"/>
              <a:t> </a:t>
            </a:r>
          </a:p>
          <a:p>
            <a:pPr lvl="1"/>
            <a:r>
              <a:rPr lang="en-US" i="1" dirty="0"/>
              <a:t>Previously, it helped us predict solar farm output in Program 3.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b="1" dirty="0"/>
              <a:t>The API offers key advantages for our project.</a:t>
            </a:r>
            <a:endParaRPr lang="en-US" dirty="0"/>
          </a:p>
          <a:p>
            <a:pPr lvl="1"/>
            <a:r>
              <a:rPr lang="en-US" dirty="0"/>
              <a:t>It's simple, accurate, and directly supports estimating solar charging needs by location year-round.</a:t>
            </a:r>
          </a:p>
          <a:p>
            <a:endParaRPr lang="en-US" dirty="0"/>
          </a:p>
        </p:txBody>
      </p:sp>
      <p:pic>
        <p:nvPicPr>
          <p:cNvPr id="6" name="Picture 5" descr="Solar panels and earth with the sun&#10;&#10;AI-generated content may be incorrect.">
            <a:extLst>
              <a:ext uri="{FF2B5EF4-FFF2-40B4-BE49-F238E27FC236}">
                <a16:creationId xmlns:a16="http://schemas.microsoft.com/office/drawing/2014/main" id="{0ECF5BD6-332C-4E01-63EB-DA7567B9F9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567658" y="173933"/>
            <a:ext cx="4448852" cy="4134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722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41ab754-b24e-474c-99d9-bf57429ec7b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0D47D9BB7BD344DAB7089DF576CAA76" ma:contentTypeVersion="6" ma:contentTypeDescription="Create a new document." ma:contentTypeScope="" ma:versionID="8eb77530810887b163b7da70af1ccd27">
  <xsd:schema xmlns:xsd="http://www.w3.org/2001/XMLSchema" xmlns:xs="http://www.w3.org/2001/XMLSchema" xmlns:p="http://schemas.microsoft.com/office/2006/metadata/properties" xmlns:ns3="541ab754-b24e-474c-99d9-bf57429ec7bf" targetNamespace="http://schemas.microsoft.com/office/2006/metadata/properties" ma:root="true" ma:fieldsID="74d7f85a16169b2b7f5fde46d13917da" ns3:_="">
    <xsd:import namespace="541ab754-b24e-474c-99d9-bf57429ec7b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1ab754-b24e-474c-99d9-bf57429ec7b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58B0CD8-1B2D-4F06-93D4-4F0AAEE6E0B2}">
  <ds:schemaRefs>
    <ds:schemaRef ds:uri="http://purl.org/dc/elements/1.1/"/>
    <ds:schemaRef ds:uri="http://purl.org/dc/dcmitype/"/>
    <ds:schemaRef ds:uri="http://purl.org/dc/terms/"/>
    <ds:schemaRef ds:uri="541ab754-b24e-474c-99d9-bf57429ec7bf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B460A147-C617-4DB5-BF73-910A9FF043A6}">
  <ds:schemaRefs>
    <ds:schemaRef ds:uri="541ab754-b24e-474c-99d9-bf57429ec7b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B843FBF-4321-442F-9834-59EB8762D80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6b6dd5b-f02f-441a-99a0-162ac5060bd2}" enabled="0" method="" siteId="{f6b6dd5b-f02f-441a-99a0-162ac5060bd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309</Words>
  <Application>Microsoft Office PowerPoint</Application>
  <PresentationFormat>Widescreen</PresentationFormat>
  <Paragraphs>58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Courier New</vt:lpstr>
      <vt:lpstr>Office Theme</vt:lpstr>
      <vt:lpstr>How many solar panels do you need to charge a phone?</vt:lpstr>
      <vt:lpstr>It depends on what you're charging</vt:lpstr>
      <vt:lpstr>And it depends on where you live</vt:lpstr>
      <vt:lpstr>Visualization - Syed</vt:lpstr>
      <vt:lpstr>A different Visualization</vt:lpstr>
      <vt:lpstr>Data Sources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Pityas T Isayas</dc:creator>
  <cp:lastModifiedBy>Pityas Isayas</cp:lastModifiedBy>
  <cp:revision>156</cp:revision>
  <dcterms:created xsi:type="dcterms:W3CDTF">2025-05-30T19:41:57Z</dcterms:created>
  <dcterms:modified xsi:type="dcterms:W3CDTF">2025-06-04T22:52:57Z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0x01010020D47D9BB7BD344DAB7089DF576CAA76</vt:lpwstr>
  </property>
</Properties>
</file>